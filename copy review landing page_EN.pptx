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2" r:id="rId3"/>
    <p:sldId id="258" r:id="rId4"/>
    <p:sldId id="257" r:id="rId5"/>
    <p:sldId id="263" r:id="rId6"/>
    <p:sldId id="259" r:id="rId7"/>
    <p:sldId id="260" r:id="rId8"/>
    <p:sldId id="261" r:id="rId9"/>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6EDFFF-9161-7847-BACD-FA735564F7ED}" v="11" dt="2026-05-20T07:10:56.5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47"/>
    <p:restoredTop sz="94682"/>
  </p:normalViewPr>
  <p:slideViewPr>
    <p:cSldViewPr snapToGrid="0">
      <p:cViewPr>
        <p:scale>
          <a:sx n="78" d="100"/>
          <a:sy n="78" d="100"/>
        </p:scale>
        <p:origin x="840" y="10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17"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customXml" Target="../customXml/item1.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A013A-8531-746A-43DE-2F65155DC24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BE"/>
          </a:p>
        </p:txBody>
      </p:sp>
      <p:sp>
        <p:nvSpPr>
          <p:cNvPr id="3" name="Subtitle 2">
            <a:extLst>
              <a:ext uri="{FF2B5EF4-FFF2-40B4-BE49-F238E27FC236}">
                <a16:creationId xmlns:a16="http://schemas.microsoft.com/office/drawing/2014/main" id="{7347ABEB-BDB4-F97F-290E-740FB41398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E"/>
          </a:p>
        </p:txBody>
      </p:sp>
      <p:sp>
        <p:nvSpPr>
          <p:cNvPr id="4" name="Date Placeholder 3">
            <a:extLst>
              <a:ext uri="{FF2B5EF4-FFF2-40B4-BE49-F238E27FC236}">
                <a16:creationId xmlns:a16="http://schemas.microsoft.com/office/drawing/2014/main" id="{A9766BB2-D3AC-C47C-DEAD-2637BAED74DA}"/>
              </a:ext>
            </a:extLst>
          </p:cNvPr>
          <p:cNvSpPr>
            <a:spLocks noGrp="1"/>
          </p:cNvSpPr>
          <p:nvPr>
            <p:ph type="dt" sz="half" idx="10"/>
          </p:nvPr>
        </p:nvSpPr>
        <p:spPr/>
        <p:txBody>
          <a:bodyPr/>
          <a:lstStyle/>
          <a:p>
            <a:fld id="{0ED6C026-2485-0244-AB47-CAE60D003489}" type="datetimeFigureOut">
              <a:t>19/05/2026</a:t>
            </a:fld>
            <a:endParaRPr lang="en-BE"/>
          </a:p>
        </p:txBody>
      </p:sp>
      <p:sp>
        <p:nvSpPr>
          <p:cNvPr id="5" name="Footer Placeholder 4">
            <a:extLst>
              <a:ext uri="{FF2B5EF4-FFF2-40B4-BE49-F238E27FC236}">
                <a16:creationId xmlns:a16="http://schemas.microsoft.com/office/drawing/2014/main" id="{F38BD3E3-F123-40E7-4430-5610501DF5E8}"/>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F94C961F-7A4E-7913-6DFB-149D5F35DBFF}"/>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1456628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77F07-2788-7BB9-690A-5F523C4DC84D}"/>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7B58835C-1FB5-3EA7-1F4C-23141DBD29B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5168FB2F-FBF5-07BA-E11B-1BCB67103D5B}"/>
              </a:ext>
            </a:extLst>
          </p:cNvPr>
          <p:cNvSpPr>
            <a:spLocks noGrp="1"/>
          </p:cNvSpPr>
          <p:nvPr>
            <p:ph type="dt" sz="half" idx="10"/>
          </p:nvPr>
        </p:nvSpPr>
        <p:spPr/>
        <p:txBody>
          <a:bodyPr/>
          <a:lstStyle/>
          <a:p>
            <a:fld id="{0ED6C026-2485-0244-AB47-CAE60D003489}" type="datetimeFigureOut">
              <a:t>19/05/2026</a:t>
            </a:fld>
            <a:endParaRPr lang="en-BE"/>
          </a:p>
        </p:txBody>
      </p:sp>
      <p:sp>
        <p:nvSpPr>
          <p:cNvPr id="5" name="Footer Placeholder 4">
            <a:extLst>
              <a:ext uri="{FF2B5EF4-FFF2-40B4-BE49-F238E27FC236}">
                <a16:creationId xmlns:a16="http://schemas.microsoft.com/office/drawing/2014/main" id="{B13FBB8A-E3FE-F0AE-33D9-540A49DB3B8F}"/>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8CD0E03E-659C-0C7A-344A-8F7C5154D2DF}"/>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4096788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00B8C-3E9A-C67C-956E-3DE5B1CF0F3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E"/>
          </a:p>
        </p:txBody>
      </p:sp>
      <p:sp>
        <p:nvSpPr>
          <p:cNvPr id="3" name="Text Placeholder 2">
            <a:extLst>
              <a:ext uri="{FF2B5EF4-FFF2-40B4-BE49-F238E27FC236}">
                <a16:creationId xmlns:a16="http://schemas.microsoft.com/office/drawing/2014/main" id="{80AFC1F9-405C-FE06-1F7F-CDDBFBAF38C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01CC6AF-94DC-7D7E-007B-D1D470465540}"/>
              </a:ext>
            </a:extLst>
          </p:cNvPr>
          <p:cNvSpPr>
            <a:spLocks noGrp="1"/>
          </p:cNvSpPr>
          <p:nvPr>
            <p:ph type="dt" sz="half" idx="10"/>
          </p:nvPr>
        </p:nvSpPr>
        <p:spPr/>
        <p:txBody>
          <a:bodyPr/>
          <a:lstStyle/>
          <a:p>
            <a:fld id="{0ED6C026-2485-0244-AB47-CAE60D003489}" type="datetimeFigureOut">
              <a:t>19/05/2026</a:t>
            </a:fld>
            <a:endParaRPr lang="en-BE"/>
          </a:p>
        </p:txBody>
      </p:sp>
      <p:sp>
        <p:nvSpPr>
          <p:cNvPr id="5" name="Footer Placeholder 4">
            <a:extLst>
              <a:ext uri="{FF2B5EF4-FFF2-40B4-BE49-F238E27FC236}">
                <a16:creationId xmlns:a16="http://schemas.microsoft.com/office/drawing/2014/main" id="{DE792E23-D238-3B7C-AD5D-CE53A22BDAD5}"/>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098333A0-6FBC-37BB-0065-E8CEA208A8A6}"/>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563693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F1B2E-39A6-F81E-5F8E-49BA0C2E3AF3}"/>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11BFBB57-DCAA-90AD-694C-1D00B075B9E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Content Placeholder 3">
            <a:extLst>
              <a:ext uri="{FF2B5EF4-FFF2-40B4-BE49-F238E27FC236}">
                <a16:creationId xmlns:a16="http://schemas.microsoft.com/office/drawing/2014/main" id="{FD02651B-1F36-3AAA-4E13-88F30D46AF5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Date Placeholder 4">
            <a:extLst>
              <a:ext uri="{FF2B5EF4-FFF2-40B4-BE49-F238E27FC236}">
                <a16:creationId xmlns:a16="http://schemas.microsoft.com/office/drawing/2014/main" id="{2F43984D-5213-7B45-EEF7-131319713589}"/>
              </a:ext>
            </a:extLst>
          </p:cNvPr>
          <p:cNvSpPr>
            <a:spLocks noGrp="1"/>
          </p:cNvSpPr>
          <p:nvPr>
            <p:ph type="dt" sz="half" idx="10"/>
          </p:nvPr>
        </p:nvSpPr>
        <p:spPr/>
        <p:txBody>
          <a:bodyPr/>
          <a:lstStyle/>
          <a:p>
            <a:fld id="{0ED6C026-2485-0244-AB47-CAE60D003489}" type="datetimeFigureOut">
              <a:t>19/05/2026</a:t>
            </a:fld>
            <a:endParaRPr lang="en-BE"/>
          </a:p>
        </p:txBody>
      </p:sp>
      <p:sp>
        <p:nvSpPr>
          <p:cNvPr id="6" name="Footer Placeholder 5">
            <a:extLst>
              <a:ext uri="{FF2B5EF4-FFF2-40B4-BE49-F238E27FC236}">
                <a16:creationId xmlns:a16="http://schemas.microsoft.com/office/drawing/2014/main" id="{A8EBD347-270A-6684-DBFB-DFB6DA9595F7}"/>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57180871-DDF5-57EB-7C8F-94A33C84F22E}"/>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1652530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E57B2-FD95-33DD-26CC-0B60671FE4C5}"/>
              </a:ext>
            </a:extLst>
          </p:cNvPr>
          <p:cNvSpPr>
            <a:spLocks noGrp="1"/>
          </p:cNvSpPr>
          <p:nvPr>
            <p:ph type="title"/>
          </p:nvPr>
        </p:nvSpPr>
        <p:spPr>
          <a:xfrm>
            <a:off x="839788" y="365125"/>
            <a:ext cx="10515600" cy="1325563"/>
          </a:xfrm>
        </p:spPr>
        <p:txBody>
          <a:bodyPr/>
          <a:lstStyle/>
          <a:p>
            <a:r>
              <a:rPr lang="en-GB"/>
              <a:t>Click to edit Master title style</a:t>
            </a:r>
            <a:endParaRPr lang="en-BE"/>
          </a:p>
        </p:txBody>
      </p:sp>
      <p:sp>
        <p:nvSpPr>
          <p:cNvPr id="3" name="Text Placeholder 2">
            <a:extLst>
              <a:ext uri="{FF2B5EF4-FFF2-40B4-BE49-F238E27FC236}">
                <a16:creationId xmlns:a16="http://schemas.microsoft.com/office/drawing/2014/main" id="{F7B67866-233F-83EC-B00A-4B30A1550C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D3A11CF-7EDF-8179-E43D-5F1FAE0CA2E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Text Placeholder 4">
            <a:extLst>
              <a:ext uri="{FF2B5EF4-FFF2-40B4-BE49-F238E27FC236}">
                <a16:creationId xmlns:a16="http://schemas.microsoft.com/office/drawing/2014/main" id="{E0DE85DB-C876-68A0-6D7E-9C19A8DA83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D9F20E3-8229-7906-A49E-38218BFF674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7" name="Date Placeholder 6">
            <a:extLst>
              <a:ext uri="{FF2B5EF4-FFF2-40B4-BE49-F238E27FC236}">
                <a16:creationId xmlns:a16="http://schemas.microsoft.com/office/drawing/2014/main" id="{BA41C5C4-6E36-48C4-E2AD-5E9D9ABE9E2B}"/>
              </a:ext>
            </a:extLst>
          </p:cNvPr>
          <p:cNvSpPr>
            <a:spLocks noGrp="1"/>
          </p:cNvSpPr>
          <p:nvPr>
            <p:ph type="dt" sz="half" idx="10"/>
          </p:nvPr>
        </p:nvSpPr>
        <p:spPr/>
        <p:txBody>
          <a:bodyPr/>
          <a:lstStyle/>
          <a:p>
            <a:fld id="{0ED6C026-2485-0244-AB47-CAE60D003489}" type="datetimeFigureOut">
              <a:t>19/05/2026</a:t>
            </a:fld>
            <a:endParaRPr lang="en-BE"/>
          </a:p>
        </p:txBody>
      </p:sp>
      <p:sp>
        <p:nvSpPr>
          <p:cNvPr id="8" name="Footer Placeholder 7">
            <a:extLst>
              <a:ext uri="{FF2B5EF4-FFF2-40B4-BE49-F238E27FC236}">
                <a16:creationId xmlns:a16="http://schemas.microsoft.com/office/drawing/2014/main" id="{EAC2336C-73A7-CA70-DA50-38924A82C175}"/>
              </a:ext>
            </a:extLst>
          </p:cNvPr>
          <p:cNvSpPr>
            <a:spLocks noGrp="1"/>
          </p:cNvSpPr>
          <p:nvPr>
            <p:ph type="ftr" sz="quarter" idx="11"/>
          </p:nvPr>
        </p:nvSpPr>
        <p:spPr/>
        <p:txBody>
          <a:bodyPr/>
          <a:lstStyle/>
          <a:p>
            <a:endParaRPr lang="en-BE"/>
          </a:p>
        </p:txBody>
      </p:sp>
      <p:sp>
        <p:nvSpPr>
          <p:cNvPr id="9" name="Slide Number Placeholder 8">
            <a:extLst>
              <a:ext uri="{FF2B5EF4-FFF2-40B4-BE49-F238E27FC236}">
                <a16:creationId xmlns:a16="http://schemas.microsoft.com/office/drawing/2014/main" id="{A67CCF4F-202D-CA44-C7C7-786A7DDCF56F}"/>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564112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C49D4-095B-61DD-6861-A71D8EF675C4}"/>
              </a:ext>
            </a:extLst>
          </p:cNvPr>
          <p:cNvSpPr>
            <a:spLocks noGrp="1"/>
          </p:cNvSpPr>
          <p:nvPr>
            <p:ph type="title"/>
          </p:nvPr>
        </p:nvSpPr>
        <p:spPr/>
        <p:txBody>
          <a:bodyPr/>
          <a:lstStyle/>
          <a:p>
            <a:r>
              <a:rPr lang="en-GB"/>
              <a:t>Click to edit Master title style</a:t>
            </a:r>
            <a:endParaRPr lang="en-BE"/>
          </a:p>
        </p:txBody>
      </p:sp>
      <p:sp>
        <p:nvSpPr>
          <p:cNvPr id="3" name="Date Placeholder 2">
            <a:extLst>
              <a:ext uri="{FF2B5EF4-FFF2-40B4-BE49-F238E27FC236}">
                <a16:creationId xmlns:a16="http://schemas.microsoft.com/office/drawing/2014/main" id="{D21A9450-232A-DFDE-2FD2-42EAB6D4487D}"/>
              </a:ext>
            </a:extLst>
          </p:cNvPr>
          <p:cNvSpPr>
            <a:spLocks noGrp="1"/>
          </p:cNvSpPr>
          <p:nvPr>
            <p:ph type="dt" sz="half" idx="10"/>
          </p:nvPr>
        </p:nvSpPr>
        <p:spPr/>
        <p:txBody>
          <a:bodyPr/>
          <a:lstStyle/>
          <a:p>
            <a:fld id="{0ED6C026-2485-0244-AB47-CAE60D003489}" type="datetimeFigureOut">
              <a:t>19/05/2026</a:t>
            </a:fld>
            <a:endParaRPr lang="en-BE"/>
          </a:p>
        </p:txBody>
      </p:sp>
      <p:sp>
        <p:nvSpPr>
          <p:cNvPr id="4" name="Footer Placeholder 3">
            <a:extLst>
              <a:ext uri="{FF2B5EF4-FFF2-40B4-BE49-F238E27FC236}">
                <a16:creationId xmlns:a16="http://schemas.microsoft.com/office/drawing/2014/main" id="{1D2761E4-2F9F-4E87-58C0-B57842253BD1}"/>
              </a:ext>
            </a:extLst>
          </p:cNvPr>
          <p:cNvSpPr>
            <a:spLocks noGrp="1"/>
          </p:cNvSpPr>
          <p:nvPr>
            <p:ph type="ftr" sz="quarter" idx="11"/>
          </p:nvPr>
        </p:nvSpPr>
        <p:spPr/>
        <p:txBody>
          <a:bodyPr/>
          <a:lstStyle/>
          <a:p>
            <a:endParaRPr lang="en-BE"/>
          </a:p>
        </p:txBody>
      </p:sp>
      <p:sp>
        <p:nvSpPr>
          <p:cNvPr id="5" name="Slide Number Placeholder 4">
            <a:extLst>
              <a:ext uri="{FF2B5EF4-FFF2-40B4-BE49-F238E27FC236}">
                <a16:creationId xmlns:a16="http://schemas.microsoft.com/office/drawing/2014/main" id="{89A85399-4BBD-C46A-3069-D68124B2E82A}"/>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3233369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36956F-E739-C77A-7C1C-49BD529AEDBC}"/>
              </a:ext>
            </a:extLst>
          </p:cNvPr>
          <p:cNvSpPr>
            <a:spLocks noGrp="1"/>
          </p:cNvSpPr>
          <p:nvPr>
            <p:ph type="dt" sz="half" idx="10"/>
          </p:nvPr>
        </p:nvSpPr>
        <p:spPr/>
        <p:txBody>
          <a:bodyPr/>
          <a:lstStyle/>
          <a:p>
            <a:fld id="{0ED6C026-2485-0244-AB47-CAE60D003489}" type="datetimeFigureOut">
              <a:t>19/05/2026</a:t>
            </a:fld>
            <a:endParaRPr lang="en-BE"/>
          </a:p>
        </p:txBody>
      </p:sp>
      <p:sp>
        <p:nvSpPr>
          <p:cNvPr id="3" name="Footer Placeholder 2">
            <a:extLst>
              <a:ext uri="{FF2B5EF4-FFF2-40B4-BE49-F238E27FC236}">
                <a16:creationId xmlns:a16="http://schemas.microsoft.com/office/drawing/2014/main" id="{11BF44F8-577E-FE1C-0312-7BD6ECB1DD6C}"/>
              </a:ext>
            </a:extLst>
          </p:cNvPr>
          <p:cNvSpPr>
            <a:spLocks noGrp="1"/>
          </p:cNvSpPr>
          <p:nvPr>
            <p:ph type="ftr" sz="quarter" idx="11"/>
          </p:nvPr>
        </p:nvSpPr>
        <p:spPr/>
        <p:txBody>
          <a:bodyPr/>
          <a:lstStyle/>
          <a:p>
            <a:endParaRPr lang="en-BE"/>
          </a:p>
        </p:txBody>
      </p:sp>
      <p:sp>
        <p:nvSpPr>
          <p:cNvPr id="4" name="Slide Number Placeholder 3">
            <a:extLst>
              <a:ext uri="{FF2B5EF4-FFF2-40B4-BE49-F238E27FC236}">
                <a16:creationId xmlns:a16="http://schemas.microsoft.com/office/drawing/2014/main" id="{A4D0EE28-12A6-C5EE-1995-25CBDC2CA2BA}"/>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4088399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F72C9-604C-8024-989B-ABBEA346299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Content Placeholder 2">
            <a:extLst>
              <a:ext uri="{FF2B5EF4-FFF2-40B4-BE49-F238E27FC236}">
                <a16:creationId xmlns:a16="http://schemas.microsoft.com/office/drawing/2014/main" id="{0DA88490-D15D-43CB-6D37-A1D31B39FE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Text Placeholder 3">
            <a:extLst>
              <a:ext uri="{FF2B5EF4-FFF2-40B4-BE49-F238E27FC236}">
                <a16:creationId xmlns:a16="http://schemas.microsoft.com/office/drawing/2014/main" id="{33338E91-8F90-6938-5FFF-CC0E04D6E4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35EBCD2-236A-0182-0E39-6C6C186E72EF}"/>
              </a:ext>
            </a:extLst>
          </p:cNvPr>
          <p:cNvSpPr>
            <a:spLocks noGrp="1"/>
          </p:cNvSpPr>
          <p:nvPr>
            <p:ph type="dt" sz="half" idx="10"/>
          </p:nvPr>
        </p:nvSpPr>
        <p:spPr/>
        <p:txBody>
          <a:bodyPr/>
          <a:lstStyle/>
          <a:p>
            <a:fld id="{0ED6C026-2485-0244-AB47-CAE60D003489}" type="datetimeFigureOut">
              <a:t>19/05/2026</a:t>
            </a:fld>
            <a:endParaRPr lang="en-BE"/>
          </a:p>
        </p:txBody>
      </p:sp>
      <p:sp>
        <p:nvSpPr>
          <p:cNvPr id="6" name="Footer Placeholder 5">
            <a:extLst>
              <a:ext uri="{FF2B5EF4-FFF2-40B4-BE49-F238E27FC236}">
                <a16:creationId xmlns:a16="http://schemas.microsoft.com/office/drawing/2014/main" id="{9147AFF8-22BA-EEA9-6848-BEC1082B315F}"/>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DD0F72A9-E0F7-419A-D4B1-975147494C6B}"/>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566296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2F306-2F1A-7A75-FEBC-45A16849072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Picture Placeholder 2">
            <a:extLst>
              <a:ext uri="{FF2B5EF4-FFF2-40B4-BE49-F238E27FC236}">
                <a16:creationId xmlns:a16="http://schemas.microsoft.com/office/drawing/2014/main" id="{CB16CD55-8C82-1F22-4AD0-B38F422FA3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E"/>
          </a:p>
        </p:txBody>
      </p:sp>
      <p:sp>
        <p:nvSpPr>
          <p:cNvPr id="4" name="Text Placeholder 3">
            <a:extLst>
              <a:ext uri="{FF2B5EF4-FFF2-40B4-BE49-F238E27FC236}">
                <a16:creationId xmlns:a16="http://schemas.microsoft.com/office/drawing/2014/main" id="{B296A635-0562-85AC-9B25-2649DDA8FA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EE437FB-45AC-882F-9053-B6936B50C1B3}"/>
              </a:ext>
            </a:extLst>
          </p:cNvPr>
          <p:cNvSpPr>
            <a:spLocks noGrp="1"/>
          </p:cNvSpPr>
          <p:nvPr>
            <p:ph type="dt" sz="half" idx="10"/>
          </p:nvPr>
        </p:nvSpPr>
        <p:spPr/>
        <p:txBody>
          <a:bodyPr/>
          <a:lstStyle/>
          <a:p>
            <a:fld id="{0ED6C026-2485-0244-AB47-CAE60D003489}" type="datetimeFigureOut">
              <a:t>19/05/2026</a:t>
            </a:fld>
            <a:endParaRPr lang="en-BE"/>
          </a:p>
        </p:txBody>
      </p:sp>
      <p:sp>
        <p:nvSpPr>
          <p:cNvPr id="6" name="Footer Placeholder 5">
            <a:extLst>
              <a:ext uri="{FF2B5EF4-FFF2-40B4-BE49-F238E27FC236}">
                <a16:creationId xmlns:a16="http://schemas.microsoft.com/office/drawing/2014/main" id="{B03F94AA-E413-9BF1-469C-4D43B2A83E99}"/>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3B64E280-DE99-06DF-67CD-CF5623785499}"/>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3299276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D0A8F-EC07-C5AD-58E7-AEFEF0AC51BD}"/>
              </a:ext>
            </a:extLst>
          </p:cNvPr>
          <p:cNvSpPr>
            <a:spLocks noGrp="1"/>
          </p:cNvSpPr>
          <p:nvPr>
            <p:ph type="title"/>
          </p:nvPr>
        </p:nvSpPr>
        <p:spPr/>
        <p:txBody>
          <a:bodyPr/>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B9BE7704-CC0D-58DB-E649-61CD0DF7D15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09FB7457-A0F2-1578-997A-166A8EF139A6}"/>
              </a:ext>
            </a:extLst>
          </p:cNvPr>
          <p:cNvSpPr>
            <a:spLocks noGrp="1"/>
          </p:cNvSpPr>
          <p:nvPr>
            <p:ph type="dt" sz="half" idx="10"/>
          </p:nvPr>
        </p:nvSpPr>
        <p:spPr/>
        <p:txBody>
          <a:bodyPr/>
          <a:lstStyle/>
          <a:p>
            <a:fld id="{0ED6C026-2485-0244-AB47-CAE60D003489}" type="datetimeFigureOut">
              <a:t>19/05/2026</a:t>
            </a:fld>
            <a:endParaRPr lang="en-BE"/>
          </a:p>
        </p:txBody>
      </p:sp>
      <p:sp>
        <p:nvSpPr>
          <p:cNvPr id="5" name="Footer Placeholder 4">
            <a:extLst>
              <a:ext uri="{FF2B5EF4-FFF2-40B4-BE49-F238E27FC236}">
                <a16:creationId xmlns:a16="http://schemas.microsoft.com/office/drawing/2014/main" id="{9B1ED1FA-3564-3509-D1A4-85CC54B79876}"/>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61C5F419-6944-0945-8094-2D6F008F7B25}"/>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479512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19D391-027D-E9AF-4579-EF45679148B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3CC0E7ED-F5E6-8D5B-2932-8DBB02191FE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98152D6D-949C-E41D-1166-77109B31A6E1}"/>
              </a:ext>
            </a:extLst>
          </p:cNvPr>
          <p:cNvSpPr>
            <a:spLocks noGrp="1"/>
          </p:cNvSpPr>
          <p:nvPr>
            <p:ph type="dt" sz="half" idx="10"/>
          </p:nvPr>
        </p:nvSpPr>
        <p:spPr/>
        <p:txBody>
          <a:bodyPr/>
          <a:lstStyle/>
          <a:p>
            <a:fld id="{0ED6C026-2485-0244-AB47-CAE60D003489}" type="datetimeFigureOut">
              <a:t>19/05/2026</a:t>
            </a:fld>
            <a:endParaRPr lang="en-BE"/>
          </a:p>
        </p:txBody>
      </p:sp>
      <p:sp>
        <p:nvSpPr>
          <p:cNvPr id="5" name="Footer Placeholder 4">
            <a:extLst>
              <a:ext uri="{FF2B5EF4-FFF2-40B4-BE49-F238E27FC236}">
                <a16:creationId xmlns:a16="http://schemas.microsoft.com/office/drawing/2014/main" id="{60644118-27BC-CAB8-D2BA-62A38E9044C0}"/>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66D41B86-BD10-B62B-1C18-BA60CBA9B6F0}"/>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2988395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252011-B710-CE62-3904-E83CA6D08D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BE"/>
          </a:p>
        </p:txBody>
      </p:sp>
      <p:sp>
        <p:nvSpPr>
          <p:cNvPr id="3" name="Text Placeholder 2">
            <a:extLst>
              <a:ext uri="{FF2B5EF4-FFF2-40B4-BE49-F238E27FC236}">
                <a16:creationId xmlns:a16="http://schemas.microsoft.com/office/drawing/2014/main" id="{CB052C19-66C7-CAEF-D435-DF48F2B37B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1FD075FA-936A-1CFB-B52B-3F30FC59F9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D6C026-2485-0244-AB47-CAE60D003489}" type="datetimeFigureOut">
              <a:t>19/05/2026</a:t>
            </a:fld>
            <a:endParaRPr lang="en-BE"/>
          </a:p>
        </p:txBody>
      </p:sp>
      <p:sp>
        <p:nvSpPr>
          <p:cNvPr id="5" name="Footer Placeholder 4">
            <a:extLst>
              <a:ext uri="{FF2B5EF4-FFF2-40B4-BE49-F238E27FC236}">
                <a16:creationId xmlns:a16="http://schemas.microsoft.com/office/drawing/2014/main" id="{B00CDBCE-9233-C640-20E8-413AA433B9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BE"/>
          </a:p>
        </p:txBody>
      </p:sp>
      <p:sp>
        <p:nvSpPr>
          <p:cNvPr id="6" name="Slide Number Placeholder 5">
            <a:extLst>
              <a:ext uri="{FF2B5EF4-FFF2-40B4-BE49-F238E27FC236}">
                <a16:creationId xmlns:a16="http://schemas.microsoft.com/office/drawing/2014/main" id="{7D38A56E-219C-5DA2-0746-EED2937276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DB1C539-E017-4C49-959F-9FC3ECE44CF8}" type="slidenum">
              <a:t>‹#›</a:t>
            </a:fld>
            <a:endParaRPr lang="en-BE"/>
          </a:p>
        </p:txBody>
      </p:sp>
    </p:spTree>
    <p:extLst>
      <p:ext uri="{BB962C8B-B14F-4D97-AF65-F5344CB8AC3E}">
        <p14:creationId xmlns:p14="http://schemas.microsoft.com/office/powerpoint/2010/main" val="30555164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E3154F-2012-373F-4E24-58D3D75568A8}"/>
              </a:ext>
            </a:extLst>
          </p:cNvPr>
          <p:cNvPicPr>
            <a:picLocks noChangeAspect="1"/>
          </p:cNvPicPr>
          <p:nvPr/>
        </p:nvPicPr>
        <p:blipFill>
          <a:blip r:embed="rId2"/>
          <a:stretch>
            <a:fillRect/>
          </a:stretch>
        </p:blipFill>
        <p:spPr>
          <a:xfrm>
            <a:off x="0" y="643270"/>
            <a:ext cx="8969602" cy="5571460"/>
          </a:xfrm>
          <a:prstGeom prst="rect">
            <a:avLst/>
          </a:prstGeom>
        </p:spPr>
      </p:pic>
      <p:sp>
        <p:nvSpPr>
          <p:cNvPr id="5" name="Rectangle 4">
            <a:extLst>
              <a:ext uri="{FF2B5EF4-FFF2-40B4-BE49-F238E27FC236}">
                <a16:creationId xmlns:a16="http://schemas.microsoft.com/office/drawing/2014/main" id="{75E911F1-27D9-5381-59F7-DDC9F95F55BA}"/>
              </a:ext>
            </a:extLst>
          </p:cNvPr>
          <p:cNvSpPr/>
          <p:nvPr/>
        </p:nvSpPr>
        <p:spPr>
          <a:xfrm>
            <a:off x="5273748" y="2846525"/>
            <a:ext cx="3961667" cy="10047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100"/>
              <a:t>Voor mij dekt dat nog niet de volledige lading als tagline.</a:t>
            </a:r>
          </a:p>
          <a:p>
            <a:endParaRPr lang="en-BE" sz="1100"/>
          </a:p>
          <a:p>
            <a:r>
              <a:rPr lang="en-GB" sz="1100"/>
              <a:t>I</a:t>
            </a:r>
            <a:r>
              <a:rPr lang="en-BE" sz="1100"/>
              <a:t>s het niet supply &amp; demand side, meet each other better &amp; faster? </a:t>
            </a:r>
          </a:p>
          <a:p>
            <a:r>
              <a:rPr lang="en-BE" sz="1100"/>
              <a:t>Of “where supply finally finds its market”</a:t>
            </a:r>
          </a:p>
          <a:p>
            <a:endParaRPr lang="en-BE" sz="1100"/>
          </a:p>
        </p:txBody>
      </p:sp>
      <p:sp>
        <p:nvSpPr>
          <p:cNvPr id="6" name="Rectangle 5">
            <a:extLst>
              <a:ext uri="{FF2B5EF4-FFF2-40B4-BE49-F238E27FC236}">
                <a16:creationId xmlns:a16="http://schemas.microsoft.com/office/drawing/2014/main" id="{CD13A5CD-CEBF-0815-AFD6-795366D89531}"/>
              </a:ext>
            </a:extLst>
          </p:cNvPr>
          <p:cNvSpPr/>
          <p:nvPr/>
        </p:nvSpPr>
        <p:spPr>
          <a:xfrm>
            <a:off x="5273749" y="3851301"/>
            <a:ext cx="3961667" cy="18938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100"/>
              <a:t>RFQ best technische term, mogelijk meer naar wat het kan doen of betekenen formuleren? Voor mij meer ”connecteren met het juiste protocol”</a:t>
            </a:r>
          </a:p>
          <a:p>
            <a:endParaRPr lang="en-GB" sz="1100"/>
          </a:p>
          <a:p>
            <a:r>
              <a:rPr lang="en-GB" sz="1100"/>
              <a:t>T</a:t>
            </a:r>
            <a:r>
              <a:rPr lang="en-BE" sz="1100"/>
              <a:t>ransparantie mogelijk mee oppassen?  </a:t>
            </a:r>
          </a:p>
          <a:p>
            <a:endParaRPr lang="en-BE" sz="1100"/>
          </a:p>
          <a:p>
            <a:r>
              <a:rPr lang="en-BE" sz="1100"/>
              <a:t>Suggestie van selling proposition : </a:t>
            </a:r>
          </a:p>
          <a:p>
            <a:r>
              <a:rPr lang="en-BE" sz="1050"/>
              <a:t>CARAVAN intuitively connects growers, exporters and buyers on one platform — post your supply or your needs, receive competitive quotes, confirm with one click. Every deal is recorded, traceable and settled automatically.</a:t>
            </a:r>
          </a:p>
          <a:p>
            <a:endParaRPr lang="en-BE" sz="1100"/>
          </a:p>
        </p:txBody>
      </p:sp>
      <p:pic>
        <p:nvPicPr>
          <p:cNvPr id="7" name="Picture 6">
            <a:extLst>
              <a:ext uri="{FF2B5EF4-FFF2-40B4-BE49-F238E27FC236}">
                <a16:creationId xmlns:a16="http://schemas.microsoft.com/office/drawing/2014/main" id="{CC768FFC-B959-E1A7-4813-36A7E20E2812}"/>
              </a:ext>
            </a:extLst>
          </p:cNvPr>
          <p:cNvPicPr>
            <a:picLocks noChangeAspect="1"/>
          </p:cNvPicPr>
          <p:nvPr/>
        </p:nvPicPr>
        <p:blipFill>
          <a:blip r:embed="rId3"/>
          <a:stretch>
            <a:fillRect/>
          </a:stretch>
        </p:blipFill>
        <p:spPr>
          <a:xfrm>
            <a:off x="537984" y="5665109"/>
            <a:ext cx="5214231" cy="1099242"/>
          </a:xfrm>
          <a:prstGeom prst="rect">
            <a:avLst/>
          </a:prstGeom>
        </p:spPr>
      </p:pic>
      <p:sp>
        <p:nvSpPr>
          <p:cNvPr id="8" name="Rectangle 7">
            <a:extLst>
              <a:ext uri="{FF2B5EF4-FFF2-40B4-BE49-F238E27FC236}">
                <a16:creationId xmlns:a16="http://schemas.microsoft.com/office/drawing/2014/main" id="{820E61D5-AEFC-D88E-6226-8C6DECED44EB}"/>
              </a:ext>
            </a:extLst>
          </p:cNvPr>
          <p:cNvSpPr/>
          <p:nvPr/>
        </p:nvSpPr>
        <p:spPr>
          <a:xfrm>
            <a:off x="5837274" y="5842000"/>
            <a:ext cx="3961667" cy="8262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50"/>
              <a:t>We kunnen mogelijk success metrics belichten. Wat we denken echt te behalen, qua. </a:t>
            </a:r>
            <a:r>
              <a:rPr lang="en-GB" sz="1050"/>
              <a:t>T</a:t>
            </a:r>
            <a:r>
              <a:rPr lang="en-BE" sz="1050"/>
              <a:t>ijd, x% meer deals, … (mss voor latere fase). Deze zijn van Harvex.  </a:t>
            </a:r>
            <a:r>
              <a:rPr lang="en-GB" sz="1050"/>
              <a:t>P</a:t>
            </a:r>
            <a:r>
              <a:rPr lang="en-BE" sz="1050"/>
              <a:t>agina hierachter suggesties qua metrics voor Caravan. Zo knn we ook goed bevragen, wat is echt het eindresultaat dat ze willen bekomen met platform. </a:t>
            </a:r>
          </a:p>
        </p:txBody>
      </p:sp>
    </p:spTree>
    <p:extLst>
      <p:ext uri="{BB962C8B-B14F-4D97-AF65-F5344CB8AC3E}">
        <p14:creationId xmlns:p14="http://schemas.microsoft.com/office/powerpoint/2010/main" val="1979686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083B9A-5337-9152-60DF-A186AC4FD3D6}"/>
              </a:ext>
            </a:extLst>
          </p:cNvPr>
          <p:cNvPicPr>
            <a:picLocks noChangeAspect="1"/>
          </p:cNvPicPr>
          <p:nvPr/>
        </p:nvPicPr>
        <p:blipFill>
          <a:blip r:embed="rId2"/>
          <a:stretch>
            <a:fillRect/>
          </a:stretch>
        </p:blipFill>
        <p:spPr>
          <a:xfrm>
            <a:off x="364490" y="2552700"/>
            <a:ext cx="3314700" cy="876300"/>
          </a:xfrm>
          <a:prstGeom prst="rect">
            <a:avLst/>
          </a:prstGeom>
        </p:spPr>
      </p:pic>
      <p:pic>
        <p:nvPicPr>
          <p:cNvPr id="6" name="Picture 5">
            <a:extLst>
              <a:ext uri="{FF2B5EF4-FFF2-40B4-BE49-F238E27FC236}">
                <a16:creationId xmlns:a16="http://schemas.microsoft.com/office/drawing/2014/main" id="{4306055A-2AE6-EE2D-6288-2EC38E9B8E8B}"/>
              </a:ext>
            </a:extLst>
          </p:cNvPr>
          <p:cNvPicPr>
            <a:picLocks noChangeAspect="1"/>
          </p:cNvPicPr>
          <p:nvPr/>
        </p:nvPicPr>
        <p:blipFill>
          <a:blip r:embed="rId3"/>
          <a:stretch>
            <a:fillRect/>
          </a:stretch>
        </p:blipFill>
        <p:spPr>
          <a:xfrm>
            <a:off x="5961381" y="2552700"/>
            <a:ext cx="3390900" cy="330200"/>
          </a:xfrm>
          <a:prstGeom prst="rect">
            <a:avLst/>
          </a:prstGeom>
        </p:spPr>
      </p:pic>
      <p:sp>
        <p:nvSpPr>
          <p:cNvPr id="7" name="Rectangle 6">
            <a:extLst>
              <a:ext uri="{FF2B5EF4-FFF2-40B4-BE49-F238E27FC236}">
                <a16:creationId xmlns:a16="http://schemas.microsoft.com/office/drawing/2014/main" id="{ED504E0C-6787-1C63-31D1-1F8EA7310EE2}"/>
              </a:ext>
            </a:extLst>
          </p:cNvPr>
          <p:cNvSpPr/>
          <p:nvPr/>
        </p:nvSpPr>
        <p:spPr>
          <a:xfrm>
            <a:off x="3768091" y="2552700"/>
            <a:ext cx="2104389" cy="8763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nl-BE" sz="1100"/>
              <a:t>Connects buyers and sellers across Belgium, Neterlands &amp; beyond – one platform, one network.</a:t>
            </a:r>
            <a:endParaRPr lang="en-BE" sz="1100"/>
          </a:p>
          <a:p>
            <a:endParaRPr lang="en-BE" sz="1100"/>
          </a:p>
        </p:txBody>
      </p:sp>
    </p:spTree>
    <p:extLst>
      <p:ext uri="{BB962C8B-B14F-4D97-AF65-F5344CB8AC3E}">
        <p14:creationId xmlns:p14="http://schemas.microsoft.com/office/powerpoint/2010/main" val="3393270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F9EE7C-3AD2-8E06-2036-083B2ED3D355}"/>
              </a:ext>
            </a:extLst>
          </p:cNvPr>
          <p:cNvPicPr>
            <a:picLocks noChangeAspect="1"/>
          </p:cNvPicPr>
          <p:nvPr/>
        </p:nvPicPr>
        <p:blipFill>
          <a:blip r:embed="rId2"/>
          <a:stretch>
            <a:fillRect/>
          </a:stretch>
        </p:blipFill>
        <p:spPr>
          <a:xfrm>
            <a:off x="285307" y="928856"/>
            <a:ext cx="7772400" cy="5000287"/>
          </a:xfrm>
          <a:prstGeom prst="rect">
            <a:avLst/>
          </a:prstGeom>
        </p:spPr>
      </p:pic>
      <p:sp>
        <p:nvSpPr>
          <p:cNvPr id="6" name="Rectangle 5">
            <a:extLst>
              <a:ext uri="{FF2B5EF4-FFF2-40B4-BE49-F238E27FC236}">
                <a16:creationId xmlns:a16="http://schemas.microsoft.com/office/drawing/2014/main" id="{0F5761A7-A246-53F8-1480-0EDD50097CE2}"/>
              </a:ext>
            </a:extLst>
          </p:cNvPr>
          <p:cNvSpPr/>
          <p:nvPr/>
        </p:nvSpPr>
        <p:spPr>
          <a:xfrm>
            <a:off x="6621374" y="1238888"/>
            <a:ext cx="3961667" cy="6451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100"/>
              <a:t>Is it really by Phone? </a:t>
            </a:r>
          </a:p>
          <a:p>
            <a:r>
              <a:rPr lang="en-GB" sz="1100"/>
              <a:t>O</a:t>
            </a:r>
            <a:r>
              <a:rPr lang="en-BE" sz="1100"/>
              <a:t>r should be use ‘still coordinated manually’</a:t>
            </a:r>
          </a:p>
        </p:txBody>
      </p:sp>
      <p:sp>
        <p:nvSpPr>
          <p:cNvPr id="7" name="Rectangle 6">
            <a:extLst>
              <a:ext uri="{FF2B5EF4-FFF2-40B4-BE49-F238E27FC236}">
                <a16:creationId xmlns:a16="http://schemas.microsoft.com/office/drawing/2014/main" id="{BAB6D054-7436-E753-EA36-E554E8F73788}"/>
              </a:ext>
            </a:extLst>
          </p:cNvPr>
          <p:cNvSpPr/>
          <p:nvPr/>
        </p:nvSpPr>
        <p:spPr>
          <a:xfrm>
            <a:off x="6621373" y="1884034"/>
            <a:ext cx="3961667" cy="6451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100"/>
              <a:t>Four structural frictions. Each costing both sides of the trade.</a:t>
            </a:r>
          </a:p>
        </p:txBody>
      </p:sp>
      <p:sp>
        <p:nvSpPr>
          <p:cNvPr id="8" name="Rectangle 7">
            <a:extLst>
              <a:ext uri="{FF2B5EF4-FFF2-40B4-BE49-F238E27FC236}">
                <a16:creationId xmlns:a16="http://schemas.microsoft.com/office/drawing/2014/main" id="{967A48AA-9BB7-91C0-B7AE-3892E3668C79}"/>
              </a:ext>
            </a:extLst>
          </p:cNvPr>
          <p:cNvSpPr/>
          <p:nvPr/>
        </p:nvSpPr>
        <p:spPr>
          <a:xfrm>
            <a:off x="736151" y="2739762"/>
            <a:ext cx="3091569" cy="16586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1. Time is the enemy.</a:t>
            </a:r>
            <a:br>
              <a:rPr lang="en-BE" sz="1000"/>
            </a:br>
            <a:r>
              <a:rPr lang="en-BE" sz="1000"/>
              <a:t>Fresh produce doesn’t wait. A shipment not traded today is worth less tomorrow.</a:t>
            </a:r>
            <a:br>
              <a:rPr lang="en-BE" sz="1000"/>
            </a:br>
            <a:r>
              <a:rPr lang="en-BE" sz="1000"/>
              <a:t>While negotiations drag across calls, messages and spreadsheets, the clock is already working against both sides. </a:t>
            </a:r>
            <a:r>
              <a:rPr lang="en-BE" sz="1000" b="1"/>
              <a:t>Speed shapes price. </a:t>
            </a:r>
            <a:r>
              <a:rPr lang="en-GB" sz="1000" b="1"/>
              <a:t>OF Speed defines value.  OF </a:t>
            </a:r>
            <a:r>
              <a:rPr lang="en-BE" sz="1000" b="1"/>
              <a:t>At the core of every trade lies efficient price formation.</a:t>
            </a:r>
            <a:endParaRPr lang="en-BE" sz="1000"/>
          </a:p>
          <a:p>
            <a:endParaRPr lang="en-BE" sz="1000"/>
          </a:p>
          <a:p>
            <a:endParaRPr lang="en-BE" sz="1000"/>
          </a:p>
          <a:p>
            <a:endParaRPr lang="en-BE" sz="1000"/>
          </a:p>
        </p:txBody>
      </p:sp>
      <p:sp>
        <p:nvSpPr>
          <p:cNvPr id="9" name="Rectangle 8">
            <a:extLst>
              <a:ext uri="{FF2B5EF4-FFF2-40B4-BE49-F238E27FC236}">
                <a16:creationId xmlns:a16="http://schemas.microsoft.com/office/drawing/2014/main" id="{18462070-B82F-E2CF-189F-B53F2E02D8F2}"/>
              </a:ext>
            </a:extLst>
          </p:cNvPr>
          <p:cNvSpPr/>
          <p:nvPr/>
        </p:nvSpPr>
        <p:spPr>
          <a:xfrm>
            <a:off x="4446914" y="2739762"/>
            <a:ext cx="3091569" cy="14813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02  Relationships are the market</a:t>
            </a:r>
            <a:br>
              <a:rPr lang="en-BE" sz="1000"/>
            </a:br>
            <a:r>
              <a:rPr lang="en-BE" sz="1000"/>
              <a:t>In fresh produce, who you trade with matters as much as what you trade.</a:t>
            </a:r>
            <a:br>
              <a:rPr lang="en-BE" sz="1000"/>
            </a:br>
            <a:r>
              <a:rPr lang="en-BE" sz="1000"/>
              <a:t>Trust, reliability and proven quality aren’t soft factors ,they are the foundation of every deal.</a:t>
            </a:r>
            <a:br>
              <a:rPr lang="en-BE" sz="1000"/>
            </a:br>
            <a:r>
              <a:rPr lang="en-BE" sz="1000"/>
              <a:t>CARAVAN keeps relationships at the centre while giving negotiations the structure they deserve.</a:t>
            </a:r>
          </a:p>
          <a:p>
            <a:endParaRPr lang="en-BE" sz="1000"/>
          </a:p>
          <a:p>
            <a:endParaRPr lang="en-BE" sz="1000"/>
          </a:p>
          <a:p>
            <a:endParaRPr lang="en-BE" sz="1000"/>
          </a:p>
        </p:txBody>
      </p:sp>
      <p:sp>
        <p:nvSpPr>
          <p:cNvPr id="10" name="Rectangle 9">
            <a:extLst>
              <a:ext uri="{FF2B5EF4-FFF2-40B4-BE49-F238E27FC236}">
                <a16:creationId xmlns:a16="http://schemas.microsoft.com/office/drawing/2014/main" id="{4EBE82DC-F63B-42CA-AB1A-F76301CAFF3D}"/>
              </a:ext>
            </a:extLst>
          </p:cNvPr>
          <p:cNvSpPr/>
          <p:nvPr/>
        </p:nvSpPr>
        <p:spPr>
          <a:xfrm>
            <a:off x="736151" y="4515399"/>
            <a:ext cx="3091569" cy="16586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3. Every deal starts from scratch</a:t>
            </a:r>
            <a:br>
              <a:rPr lang="en-BE" sz="1000"/>
            </a:br>
            <a:r>
              <a:rPr lang="en-BE" sz="1000"/>
              <a:t>When negotiations happen across calls and messages, nothing is captured.</a:t>
            </a:r>
            <a:br>
              <a:rPr lang="en-BE" sz="1000"/>
            </a:br>
            <a:r>
              <a:rPr lang="en-BE" sz="1000"/>
              <a:t>No pricing history. No negotiation trail. No record of what was offered, accepted or declined.</a:t>
            </a:r>
            <a:br>
              <a:rPr lang="en-BE" sz="1000"/>
            </a:br>
            <a:r>
              <a:rPr lang="en-BE" sz="1000"/>
              <a:t>Every new trade starts from zero, creating inefficiencies fro both sides of the market. OF Markets become mor efficient when information compounds over time. </a:t>
            </a:r>
          </a:p>
          <a:p>
            <a:endParaRPr lang="en-BE" sz="1000"/>
          </a:p>
          <a:p>
            <a:endParaRPr lang="en-BE" sz="1000"/>
          </a:p>
          <a:p>
            <a:endParaRPr lang="en-BE" sz="1000"/>
          </a:p>
        </p:txBody>
      </p:sp>
      <p:sp>
        <p:nvSpPr>
          <p:cNvPr id="11" name="Rectangle 10">
            <a:extLst>
              <a:ext uri="{FF2B5EF4-FFF2-40B4-BE49-F238E27FC236}">
                <a16:creationId xmlns:a16="http://schemas.microsoft.com/office/drawing/2014/main" id="{4D25D9B0-2CC0-7D98-DC32-5445160BC550}"/>
              </a:ext>
            </a:extLst>
          </p:cNvPr>
          <p:cNvSpPr/>
          <p:nvPr/>
        </p:nvSpPr>
        <p:spPr>
          <a:xfrm>
            <a:off x="4446914" y="4438516"/>
            <a:ext cx="3091569" cy="1709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4. The right counterparty isn’t always in your contacts</a:t>
            </a:r>
            <a:br>
              <a:rPr lang="en-BE" sz="1000"/>
            </a:br>
            <a:r>
              <a:rPr lang="en-BE" sz="1000"/>
              <a:t>Existing relationships remain at the core of the trade.</a:t>
            </a:r>
            <a:br>
              <a:rPr lang="en-BE" sz="1000"/>
            </a:br>
            <a:r>
              <a:rPr lang="en-BE" sz="1000"/>
              <a:t>But sometimes you need volume beyond your usual suppliers or a buyer outside your current network. CARAVAN expands your reach while keeping relationships at the centre of the trade.</a:t>
            </a:r>
          </a:p>
          <a:p>
            <a:endParaRPr lang="en-BE" sz="1000"/>
          </a:p>
          <a:p>
            <a:endParaRPr lang="en-BE" sz="1000"/>
          </a:p>
          <a:p>
            <a:endParaRPr lang="en-BE" sz="1000"/>
          </a:p>
          <a:p>
            <a:endParaRPr lang="en-BE" sz="1000"/>
          </a:p>
        </p:txBody>
      </p:sp>
    </p:spTree>
    <p:extLst>
      <p:ext uri="{BB962C8B-B14F-4D97-AF65-F5344CB8AC3E}">
        <p14:creationId xmlns:p14="http://schemas.microsoft.com/office/powerpoint/2010/main" val="2297829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0DAAAF-293E-2AC4-3DA0-437FAF2E6F33}"/>
              </a:ext>
            </a:extLst>
          </p:cNvPr>
          <p:cNvPicPr>
            <a:picLocks noChangeAspect="1"/>
          </p:cNvPicPr>
          <p:nvPr/>
        </p:nvPicPr>
        <p:blipFill>
          <a:blip r:embed="rId2"/>
          <a:stretch>
            <a:fillRect/>
          </a:stretch>
        </p:blipFill>
        <p:spPr>
          <a:xfrm>
            <a:off x="561753" y="313649"/>
            <a:ext cx="7772400" cy="5000991"/>
          </a:xfrm>
          <a:prstGeom prst="rect">
            <a:avLst/>
          </a:prstGeom>
        </p:spPr>
      </p:pic>
      <p:sp>
        <p:nvSpPr>
          <p:cNvPr id="5" name="Rectangle 4">
            <a:extLst>
              <a:ext uri="{FF2B5EF4-FFF2-40B4-BE49-F238E27FC236}">
                <a16:creationId xmlns:a16="http://schemas.microsoft.com/office/drawing/2014/main" id="{5046603B-070A-1CA3-7893-C77803CE9E68}"/>
              </a:ext>
            </a:extLst>
          </p:cNvPr>
          <p:cNvSpPr/>
          <p:nvPr/>
        </p:nvSpPr>
        <p:spPr>
          <a:xfrm>
            <a:off x="5242584" y="1316833"/>
            <a:ext cx="5241118" cy="10135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CARAVAN doesn’t replace your counterparties — it replaces the chaos in between.</a:t>
            </a:r>
            <a:br>
              <a:rPr lang="en-BE" sz="1000"/>
            </a:br>
            <a:r>
              <a:rPr lang="en-BE" sz="1000"/>
              <a:t>Either side can initiate a trade: growers offering supply or buyers searching for volume.</a:t>
            </a:r>
          </a:p>
          <a:p>
            <a:endParaRPr lang="en-BE" sz="1000"/>
          </a:p>
          <a:p>
            <a:endParaRPr lang="en-BE" sz="1000"/>
          </a:p>
          <a:p>
            <a:endParaRPr lang="en-BE" sz="1000"/>
          </a:p>
        </p:txBody>
      </p:sp>
      <p:sp>
        <p:nvSpPr>
          <p:cNvPr id="6" name="Rectangle 5">
            <a:extLst>
              <a:ext uri="{FF2B5EF4-FFF2-40B4-BE49-F238E27FC236}">
                <a16:creationId xmlns:a16="http://schemas.microsoft.com/office/drawing/2014/main" id="{690615BF-21E2-A0D0-2D4D-9DE25588A81E}"/>
              </a:ext>
            </a:extLst>
          </p:cNvPr>
          <p:cNvSpPr/>
          <p:nvPr/>
        </p:nvSpPr>
        <p:spPr>
          <a:xfrm>
            <a:off x="7355958" y="2645902"/>
            <a:ext cx="3296094" cy="10135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a:t>Doordat de prijzen ernaast staan, lijkt het alsof er prijs transparantie is. </a:t>
            </a:r>
            <a:r>
              <a:rPr lang="en-GB" sz="1000"/>
              <a:t>V</a:t>
            </a:r>
            <a:r>
              <a:rPr lang="en-BE" sz="1000"/>
              <a:t>anuit buy/sell kant. </a:t>
            </a:r>
          </a:p>
          <a:p>
            <a:r>
              <a:rPr lang="en-BE" sz="1000"/>
              <a:t>Mogelijk laten we dit weg?</a:t>
            </a:r>
          </a:p>
          <a:p>
            <a:endParaRPr lang="en-BE" sz="1000"/>
          </a:p>
          <a:p>
            <a:endParaRPr lang="en-BE" sz="1000"/>
          </a:p>
        </p:txBody>
      </p:sp>
      <p:sp>
        <p:nvSpPr>
          <p:cNvPr id="7" name="Rectangle 6">
            <a:extLst>
              <a:ext uri="{FF2B5EF4-FFF2-40B4-BE49-F238E27FC236}">
                <a16:creationId xmlns:a16="http://schemas.microsoft.com/office/drawing/2014/main" id="{3287599E-C87E-EEC4-FFDB-930262840C9E}"/>
              </a:ext>
            </a:extLst>
          </p:cNvPr>
          <p:cNvSpPr/>
          <p:nvPr/>
        </p:nvSpPr>
        <p:spPr>
          <a:xfrm>
            <a:off x="7674935" y="4458878"/>
            <a:ext cx="3296094" cy="10135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a:t>Het prototype daarboven, en dit gaat best snel. Mogelijk kunnen we er in vervolgstap nog heel duidelijk de stappen neerschetsen eg. Harvex example of bij draft Bloom pdf. Heb hier screenshots neergezet. Alsook volgende pagina suggesties, voor 4 simpele steps</a:t>
            </a:r>
            <a:endParaRPr lang="en-BE" sz="1000"/>
          </a:p>
          <a:p>
            <a:endParaRPr lang="en-BE" sz="1000"/>
          </a:p>
        </p:txBody>
      </p:sp>
      <p:pic>
        <p:nvPicPr>
          <p:cNvPr id="8" name="Picture 7">
            <a:extLst>
              <a:ext uri="{FF2B5EF4-FFF2-40B4-BE49-F238E27FC236}">
                <a16:creationId xmlns:a16="http://schemas.microsoft.com/office/drawing/2014/main" id="{AC71A45E-564D-4708-5ACB-0552EC3A21AD}"/>
              </a:ext>
            </a:extLst>
          </p:cNvPr>
          <p:cNvPicPr>
            <a:picLocks noChangeAspect="1"/>
          </p:cNvPicPr>
          <p:nvPr/>
        </p:nvPicPr>
        <p:blipFill>
          <a:blip r:embed="rId3"/>
          <a:stretch>
            <a:fillRect/>
          </a:stretch>
        </p:blipFill>
        <p:spPr>
          <a:xfrm>
            <a:off x="6096000" y="5472409"/>
            <a:ext cx="3967716" cy="2416161"/>
          </a:xfrm>
          <a:prstGeom prst="rect">
            <a:avLst/>
          </a:prstGeom>
        </p:spPr>
      </p:pic>
      <p:pic>
        <p:nvPicPr>
          <p:cNvPr id="9" name="Picture 8">
            <a:extLst>
              <a:ext uri="{FF2B5EF4-FFF2-40B4-BE49-F238E27FC236}">
                <a16:creationId xmlns:a16="http://schemas.microsoft.com/office/drawing/2014/main" id="{3812F82C-9E25-C36B-79BA-93827997A9A2}"/>
              </a:ext>
            </a:extLst>
          </p:cNvPr>
          <p:cNvPicPr>
            <a:picLocks noChangeAspect="1"/>
          </p:cNvPicPr>
          <p:nvPr/>
        </p:nvPicPr>
        <p:blipFill>
          <a:blip r:embed="rId4"/>
          <a:stretch>
            <a:fillRect/>
          </a:stretch>
        </p:blipFill>
        <p:spPr>
          <a:xfrm>
            <a:off x="561753" y="5541167"/>
            <a:ext cx="5210975" cy="2453261"/>
          </a:xfrm>
          <a:prstGeom prst="rect">
            <a:avLst/>
          </a:prstGeom>
        </p:spPr>
      </p:pic>
    </p:spTree>
    <p:extLst>
      <p:ext uri="{BB962C8B-B14F-4D97-AF65-F5344CB8AC3E}">
        <p14:creationId xmlns:p14="http://schemas.microsoft.com/office/powerpoint/2010/main" val="1504088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307CCBB-FB9D-3E86-DE50-98BDB48F4C3D}"/>
              </a:ext>
            </a:extLst>
          </p:cNvPr>
          <p:cNvPicPr>
            <a:picLocks noChangeAspect="1"/>
          </p:cNvPicPr>
          <p:nvPr/>
        </p:nvPicPr>
        <p:blipFill>
          <a:blip r:embed="rId2"/>
          <a:stretch>
            <a:fillRect/>
          </a:stretch>
        </p:blipFill>
        <p:spPr>
          <a:xfrm>
            <a:off x="413658" y="838054"/>
            <a:ext cx="6492077" cy="3864575"/>
          </a:xfrm>
          <a:prstGeom prst="rect">
            <a:avLst/>
          </a:prstGeom>
        </p:spPr>
      </p:pic>
      <p:pic>
        <p:nvPicPr>
          <p:cNvPr id="5" name="Picture 4">
            <a:extLst>
              <a:ext uri="{FF2B5EF4-FFF2-40B4-BE49-F238E27FC236}">
                <a16:creationId xmlns:a16="http://schemas.microsoft.com/office/drawing/2014/main" id="{E60EE9FF-9F53-3FFE-4D5A-9D90CE63AC80}"/>
              </a:ext>
            </a:extLst>
          </p:cNvPr>
          <p:cNvPicPr>
            <a:picLocks noChangeAspect="1"/>
          </p:cNvPicPr>
          <p:nvPr/>
        </p:nvPicPr>
        <p:blipFill>
          <a:blip r:embed="rId3"/>
          <a:stretch>
            <a:fillRect/>
          </a:stretch>
        </p:blipFill>
        <p:spPr>
          <a:xfrm>
            <a:off x="413658" y="4702629"/>
            <a:ext cx="6492077" cy="867652"/>
          </a:xfrm>
          <a:prstGeom prst="rect">
            <a:avLst/>
          </a:prstGeom>
        </p:spPr>
      </p:pic>
      <p:pic>
        <p:nvPicPr>
          <p:cNvPr id="6" name="Picture 5">
            <a:extLst>
              <a:ext uri="{FF2B5EF4-FFF2-40B4-BE49-F238E27FC236}">
                <a16:creationId xmlns:a16="http://schemas.microsoft.com/office/drawing/2014/main" id="{DA9762F1-A524-B9DC-1A43-F5F36686C53E}"/>
              </a:ext>
            </a:extLst>
          </p:cNvPr>
          <p:cNvPicPr>
            <a:picLocks noChangeAspect="1"/>
          </p:cNvPicPr>
          <p:nvPr/>
        </p:nvPicPr>
        <p:blipFill>
          <a:blip r:embed="rId4"/>
          <a:stretch>
            <a:fillRect/>
          </a:stretch>
        </p:blipFill>
        <p:spPr>
          <a:xfrm>
            <a:off x="7614557" y="3773754"/>
            <a:ext cx="3967716" cy="2416161"/>
          </a:xfrm>
          <a:prstGeom prst="rect">
            <a:avLst/>
          </a:prstGeom>
        </p:spPr>
      </p:pic>
      <p:pic>
        <p:nvPicPr>
          <p:cNvPr id="7" name="Picture 6">
            <a:extLst>
              <a:ext uri="{FF2B5EF4-FFF2-40B4-BE49-F238E27FC236}">
                <a16:creationId xmlns:a16="http://schemas.microsoft.com/office/drawing/2014/main" id="{A007D8E6-00D3-8A66-2071-7091E30333D5}"/>
              </a:ext>
            </a:extLst>
          </p:cNvPr>
          <p:cNvPicPr>
            <a:picLocks noChangeAspect="1"/>
          </p:cNvPicPr>
          <p:nvPr/>
        </p:nvPicPr>
        <p:blipFill>
          <a:blip r:embed="rId5"/>
          <a:stretch>
            <a:fillRect/>
          </a:stretch>
        </p:blipFill>
        <p:spPr>
          <a:xfrm>
            <a:off x="7485067" y="838054"/>
            <a:ext cx="5210975" cy="2453261"/>
          </a:xfrm>
          <a:prstGeom prst="rect">
            <a:avLst/>
          </a:prstGeom>
        </p:spPr>
      </p:pic>
      <p:sp>
        <p:nvSpPr>
          <p:cNvPr id="8" name="TextBox 7">
            <a:extLst>
              <a:ext uri="{FF2B5EF4-FFF2-40B4-BE49-F238E27FC236}">
                <a16:creationId xmlns:a16="http://schemas.microsoft.com/office/drawing/2014/main" id="{029E78DF-0328-1344-A590-42B63C63D4DF}"/>
              </a:ext>
            </a:extLst>
          </p:cNvPr>
          <p:cNvSpPr txBox="1"/>
          <p:nvPr/>
        </p:nvSpPr>
        <p:spPr>
          <a:xfrm>
            <a:off x="7614557" y="293914"/>
            <a:ext cx="2475997" cy="307777"/>
          </a:xfrm>
          <a:prstGeom prst="rect">
            <a:avLst/>
          </a:prstGeom>
          <a:noFill/>
        </p:spPr>
        <p:txBody>
          <a:bodyPr wrap="square" rtlCol="0">
            <a:spAutoFit/>
          </a:bodyPr>
          <a:lstStyle/>
          <a:p>
            <a:r>
              <a:rPr lang="en-GB" sz="1400" b="1"/>
              <a:t>E</a:t>
            </a:r>
            <a:r>
              <a:rPr lang="en-BE" sz="1400" b="1"/>
              <a:t>xample Harvex</a:t>
            </a:r>
          </a:p>
        </p:txBody>
      </p:sp>
      <p:sp>
        <p:nvSpPr>
          <p:cNvPr id="9" name="TextBox 8">
            <a:extLst>
              <a:ext uri="{FF2B5EF4-FFF2-40B4-BE49-F238E27FC236}">
                <a16:creationId xmlns:a16="http://schemas.microsoft.com/office/drawing/2014/main" id="{64340104-D8DC-40D3-0083-9E041BFA6625}"/>
              </a:ext>
            </a:extLst>
          </p:cNvPr>
          <p:cNvSpPr txBox="1"/>
          <p:nvPr/>
        </p:nvSpPr>
        <p:spPr>
          <a:xfrm>
            <a:off x="7614557" y="3494314"/>
            <a:ext cx="3570514" cy="307777"/>
          </a:xfrm>
          <a:prstGeom prst="rect">
            <a:avLst/>
          </a:prstGeom>
          <a:noFill/>
        </p:spPr>
        <p:txBody>
          <a:bodyPr wrap="square" rtlCol="0">
            <a:spAutoFit/>
          </a:bodyPr>
          <a:lstStyle/>
          <a:p>
            <a:r>
              <a:rPr lang="en-GB" sz="1400" b="1"/>
              <a:t>E</a:t>
            </a:r>
            <a:r>
              <a:rPr lang="en-BE" sz="1400" b="1"/>
              <a:t>xample Bloom Claude</a:t>
            </a:r>
          </a:p>
        </p:txBody>
      </p:sp>
      <p:sp>
        <p:nvSpPr>
          <p:cNvPr id="10" name="TextBox 9">
            <a:extLst>
              <a:ext uri="{FF2B5EF4-FFF2-40B4-BE49-F238E27FC236}">
                <a16:creationId xmlns:a16="http://schemas.microsoft.com/office/drawing/2014/main" id="{893C0BA2-748A-1C1A-0B1A-CBE5066D94D2}"/>
              </a:ext>
            </a:extLst>
          </p:cNvPr>
          <p:cNvSpPr txBox="1"/>
          <p:nvPr/>
        </p:nvSpPr>
        <p:spPr>
          <a:xfrm>
            <a:off x="348343" y="310243"/>
            <a:ext cx="3570514" cy="307777"/>
          </a:xfrm>
          <a:prstGeom prst="rect">
            <a:avLst/>
          </a:prstGeom>
          <a:noFill/>
        </p:spPr>
        <p:txBody>
          <a:bodyPr wrap="square" rtlCol="0">
            <a:spAutoFit/>
          </a:bodyPr>
          <a:lstStyle/>
          <a:p>
            <a:r>
              <a:rPr lang="en-BE" sz="1400" b="1"/>
              <a:t>Draft CARAVAN</a:t>
            </a:r>
          </a:p>
        </p:txBody>
      </p:sp>
    </p:spTree>
    <p:extLst>
      <p:ext uri="{BB962C8B-B14F-4D97-AF65-F5344CB8AC3E}">
        <p14:creationId xmlns:p14="http://schemas.microsoft.com/office/powerpoint/2010/main" val="2528642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87EC59-BDC9-579F-401F-BDAB65C7D453}"/>
              </a:ext>
            </a:extLst>
          </p:cNvPr>
          <p:cNvPicPr>
            <a:picLocks noChangeAspect="1"/>
          </p:cNvPicPr>
          <p:nvPr/>
        </p:nvPicPr>
        <p:blipFill>
          <a:blip r:embed="rId2"/>
          <a:stretch>
            <a:fillRect/>
          </a:stretch>
        </p:blipFill>
        <p:spPr>
          <a:xfrm>
            <a:off x="455428" y="1357368"/>
            <a:ext cx="7772400" cy="4143263"/>
          </a:xfrm>
          <a:prstGeom prst="rect">
            <a:avLst/>
          </a:prstGeom>
        </p:spPr>
      </p:pic>
      <p:sp>
        <p:nvSpPr>
          <p:cNvPr id="5" name="Rectangle 4">
            <a:extLst>
              <a:ext uri="{FF2B5EF4-FFF2-40B4-BE49-F238E27FC236}">
                <a16:creationId xmlns:a16="http://schemas.microsoft.com/office/drawing/2014/main" id="{7695D2E2-5FDA-5CC7-6DF8-0AA8B5AACA0B}"/>
              </a:ext>
            </a:extLst>
          </p:cNvPr>
          <p:cNvSpPr/>
          <p:nvPr/>
        </p:nvSpPr>
        <p:spPr>
          <a:xfrm>
            <a:off x="6495454" y="102608"/>
            <a:ext cx="5241118" cy="11988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Trade while you sleep</a:t>
            </a:r>
            <a:br>
              <a:rPr lang="en-BE" sz="1000"/>
            </a:br>
            <a:r>
              <a:rPr lang="en-BE" sz="1000"/>
              <a:t>Set your preferred price range, volume and counterparties once. CARAVAN automatically surfaces matching RFQs so you never miss a trading opportunity.</a:t>
            </a:r>
          </a:p>
          <a:p>
            <a:endParaRPr lang="en-BE" sz="1000"/>
          </a:p>
          <a:p>
            <a:endParaRPr lang="en-BE" sz="1000"/>
          </a:p>
          <a:p>
            <a:endParaRPr lang="en-BE" sz="1000"/>
          </a:p>
          <a:p>
            <a:endParaRPr lang="en-BE" sz="1000"/>
          </a:p>
        </p:txBody>
      </p:sp>
      <p:sp>
        <p:nvSpPr>
          <p:cNvPr id="6" name="Rectangle 5">
            <a:extLst>
              <a:ext uri="{FF2B5EF4-FFF2-40B4-BE49-F238E27FC236}">
                <a16:creationId xmlns:a16="http://schemas.microsoft.com/office/drawing/2014/main" id="{56EC76BA-28DD-DA34-91A8-8F8017F7367D}"/>
              </a:ext>
            </a:extLst>
          </p:cNvPr>
          <p:cNvSpPr/>
          <p:nvPr/>
        </p:nvSpPr>
        <p:spPr>
          <a:xfrm>
            <a:off x="6495454" y="1413248"/>
            <a:ext cx="5241118" cy="11988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Forward contracts, finally simplified</a:t>
            </a:r>
            <a:br>
              <a:rPr lang="en-BE" sz="1000"/>
            </a:br>
            <a:r>
              <a:rPr lang="en-BE" sz="1000"/>
              <a:t>Agree on price, volume and delivery timing weeks or months in advance.</a:t>
            </a:r>
            <a:br>
              <a:rPr lang="en-BE" sz="1000"/>
            </a:br>
            <a:r>
              <a:rPr lang="en-BE" sz="1000"/>
              <a:t>Structured, digital and confirmed in minutes.</a:t>
            </a:r>
            <a:br>
              <a:rPr lang="en-BE" sz="1000"/>
            </a:br>
            <a:r>
              <a:rPr lang="en-BE" sz="1000"/>
              <a:t>Secure supply or lock in sales before the season starts. </a:t>
            </a:r>
          </a:p>
          <a:p>
            <a:endParaRPr lang="en-BE" sz="1000"/>
          </a:p>
          <a:p>
            <a:endParaRPr lang="en-BE" sz="1000"/>
          </a:p>
          <a:p>
            <a:endParaRPr lang="en-BE" sz="1000"/>
          </a:p>
          <a:p>
            <a:endParaRPr lang="en-BE" sz="1000"/>
          </a:p>
        </p:txBody>
      </p:sp>
      <p:sp>
        <p:nvSpPr>
          <p:cNvPr id="7" name="Rectangle 6">
            <a:extLst>
              <a:ext uri="{FF2B5EF4-FFF2-40B4-BE49-F238E27FC236}">
                <a16:creationId xmlns:a16="http://schemas.microsoft.com/office/drawing/2014/main" id="{ABAE7343-1828-50E7-50E0-55FD60827B03}"/>
              </a:ext>
            </a:extLst>
          </p:cNvPr>
          <p:cNvSpPr/>
          <p:nvPr/>
        </p:nvSpPr>
        <p:spPr>
          <a:xfrm>
            <a:off x="6495454" y="2682241"/>
            <a:ext cx="5241118" cy="11988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Your market, without borders</a:t>
            </a:r>
            <a:br>
              <a:rPr lang="en-BE" sz="1000"/>
            </a:br>
            <a:r>
              <a:rPr lang="en-BE" sz="1000"/>
              <a:t>Connect with verified trading partners across Belgium, the Netherlands and beyond.</a:t>
            </a:r>
            <a:br>
              <a:rPr lang="en-BE" sz="1000"/>
            </a:br>
            <a:r>
              <a:rPr lang="en-BE" sz="1000"/>
              <a:t>Reach relevant counterparties outside your existing network — backed by verified credentials and trading data.</a:t>
            </a:r>
          </a:p>
          <a:p>
            <a:endParaRPr lang="en-BE" sz="1000"/>
          </a:p>
          <a:p>
            <a:endParaRPr lang="en-BE" sz="1000"/>
          </a:p>
          <a:p>
            <a:endParaRPr lang="en-BE" sz="1000"/>
          </a:p>
          <a:p>
            <a:endParaRPr lang="en-BE" sz="1000"/>
          </a:p>
        </p:txBody>
      </p:sp>
      <p:sp>
        <p:nvSpPr>
          <p:cNvPr id="8" name="Rectangle 7">
            <a:extLst>
              <a:ext uri="{FF2B5EF4-FFF2-40B4-BE49-F238E27FC236}">
                <a16:creationId xmlns:a16="http://schemas.microsoft.com/office/drawing/2014/main" id="{223B2E4E-7335-94EC-AB0E-7F1E7CA8807E}"/>
              </a:ext>
            </a:extLst>
          </p:cNvPr>
          <p:cNvSpPr/>
          <p:nvPr/>
        </p:nvSpPr>
        <p:spPr>
          <a:xfrm>
            <a:off x="6495454" y="3992881"/>
            <a:ext cx="5241118" cy="11988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Your market, without borders</a:t>
            </a:r>
            <a:br>
              <a:rPr lang="en-BE" sz="1000"/>
            </a:br>
            <a:r>
              <a:rPr lang="en-BE" sz="1000"/>
              <a:t>Connect with verified trading partners across Belgium, the Netherlands and beyond.</a:t>
            </a:r>
            <a:br>
              <a:rPr lang="en-BE" sz="1000"/>
            </a:br>
            <a:r>
              <a:rPr lang="en-BE" sz="1000"/>
              <a:t>Reach relevant counterparties outside your existing network — backed by verified credentials and trading data.</a:t>
            </a:r>
          </a:p>
          <a:p>
            <a:endParaRPr lang="en-BE" sz="1000"/>
          </a:p>
          <a:p>
            <a:endParaRPr lang="en-BE" sz="1000"/>
          </a:p>
          <a:p>
            <a:endParaRPr lang="en-BE" sz="1000"/>
          </a:p>
          <a:p>
            <a:endParaRPr lang="en-BE" sz="1000"/>
          </a:p>
        </p:txBody>
      </p:sp>
      <p:sp>
        <p:nvSpPr>
          <p:cNvPr id="10" name="Rectangle 9">
            <a:extLst>
              <a:ext uri="{FF2B5EF4-FFF2-40B4-BE49-F238E27FC236}">
                <a16:creationId xmlns:a16="http://schemas.microsoft.com/office/drawing/2014/main" id="{FEE35FC0-384F-2297-8397-1DF38E1894A2}"/>
              </a:ext>
            </a:extLst>
          </p:cNvPr>
          <p:cNvSpPr/>
          <p:nvPr/>
        </p:nvSpPr>
        <p:spPr>
          <a:xfrm>
            <a:off x="6495454" y="6155952"/>
            <a:ext cx="5241118" cy="11988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Visible track record</a:t>
            </a:r>
            <a:br>
              <a:rPr lang="en-BE" sz="1000"/>
            </a:br>
            <a:r>
              <a:rPr lang="en-BE" sz="1000"/>
              <a:t>Build a verifiable trading history based on delivery reliability, payment performance and product consistency.</a:t>
            </a:r>
            <a:br>
              <a:rPr lang="en-BE" sz="1000"/>
            </a:br>
            <a:r>
              <a:rPr lang="en-BE" sz="1000"/>
              <a:t>Know who you’re trading with before committing to a transaction.</a:t>
            </a:r>
          </a:p>
          <a:p>
            <a:endParaRPr lang="en-BE" sz="1000"/>
          </a:p>
          <a:p>
            <a:endParaRPr lang="en-BE" sz="1000"/>
          </a:p>
          <a:p>
            <a:endParaRPr lang="en-BE" sz="1000"/>
          </a:p>
          <a:p>
            <a:endParaRPr lang="en-BE" sz="1000"/>
          </a:p>
        </p:txBody>
      </p:sp>
      <p:sp>
        <p:nvSpPr>
          <p:cNvPr id="11" name="Rectangle 10">
            <a:extLst>
              <a:ext uri="{FF2B5EF4-FFF2-40B4-BE49-F238E27FC236}">
                <a16:creationId xmlns:a16="http://schemas.microsoft.com/office/drawing/2014/main" id="{79E430FF-9476-F52C-D8F4-3B52BCB148E8}"/>
              </a:ext>
            </a:extLst>
          </p:cNvPr>
          <p:cNvSpPr/>
          <p:nvPr/>
        </p:nvSpPr>
        <p:spPr>
          <a:xfrm>
            <a:off x="6495454" y="5303521"/>
            <a:ext cx="5241118" cy="7924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Instant match alerts. OK </a:t>
            </a:r>
            <a:endParaRPr lang="en-BE" sz="1000"/>
          </a:p>
          <a:p>
            <a:endParaRPr lang="en-BE" sz="1000"/>
          </a:p>
          <a:p>
            <a:endParaRPr lang="en-BE" sz="1000"/>
          </a:p>
          <a:p>
            <a:endParaRPr lang="en-BE" sz="1000"/>
          </a:p>
          <a:p>
            <a:endParaRPr lang="en-BE" sz="1000"/>
          </a:p>
        </p:txBody>
      </p:sp>
    </p:spTree>
    <p:extLst>
      <p:ext uri="{BB962C8B-B14F-4D97-AF65-F5344CB8AC3E}">
        <p14:creationId xmlns:p14="http://schemas.microsoft.com/office/powerpoint/2010/main" val="4122080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3F15612-8829-EF49-3740-E21C8E9F6D28}"/>
              </a:ext>
            </a:extLst>
          </p:cNvPr>
          <p:cNvPicPr>
            <a:picLocks noChangeAspect="1"/>
          </p:cNvPicPr>
          <p:nvPr/>
        </p:nvPicPr>
        <p:blipFill>
          <a:blip r:embed="rId2"/>
          <a:stretch>
            <a:fillRect/>
          </a:stretch>
        </p:blipFill>
        <p:spPr>
          <a:xfrm>
            <a:off x="614916" y="744212"/>
            <a:ext cx="7772400" cy="5369575"/>
          </a:xfrm>
          <a:prstGeom prst="rect">
            <a:avLst/>
          </a:prstGeom>
        </p:spPr>
      </p:pic>
      <p:sp>
        <p:nvSpPr>
          <p:cNvPr id="3" name="Rectangle 2">
            <a:extLst>
              <a:ext uri="{FF2B5EF4-FFF2-40B4-BE49-F238E27FC236}">
                <a16:creationId xmlns:a16="http://schemas.microsoft.com/office/drawing/2014/main" id="{72F841D3-793C-301C-DC11-3DAAC1D5E50C}"/>
              </a:ext>
            </a:extLst>
          </p:cNvPr>
          <p:cNvSpPr/>
          <p:nvPr/>
        </p:nvSpPr>
        <p:spPr>
          <a:xfrm>
            <a:off x="7125374" y="883921"/>
            <a:ext cx="5241118" cy="157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Built by people who’ve operated inside both markets</a:t>
            </a:r>
            <a:br>
              <a:rPr lang="en-BE" sz="1000"/>
            </a:br>
            <a:r>
              <a:rPr lang="en-BE" sz="1000"/>
              <a:t>CARAVAN is not an outsider’s bet on agri-tech.</a:t>
            </a:r>
          </a:p>
          <a:p>
            <a:endParaRPr lang="en-BE" sz="1000"/>
          </a:p>
          <a:p>
            <a:r>
              <a:rPr lang="en-BE" sz="1000"/>
              <a:t>It emerged from years spent designing pricing and trading infrastructure in financial markets, combined with deep operational experience inside the fresh produce industry.</a:t>
            </a:r>
            <a:br>
              <a:rPr lang="en-BE" sz="1000"/>
            </a:br>
            <a:r>
              <a:rPr lang="en-BE" sz="1000"/>
              <a:t>The structural inefficiencies became impossible to ignore.</a:t>
            </a:r>
          </a:p>
          <a:p>
            <a:endParaRPr lang="en-BE" sz="1000"/>
          </a:p>
          <a:p>
            <a:r>
              <a:rPr lang="en-BE" sz="1000"/>
              <a:t>OR</a:t>
            </a:r>
          </a:p>
          <a:p>
            <a:endParaRPr lang="en-BE" sz="1000"/>
          </a:p>
          <a:p>
            <a:r>
              <a:rPr lang="en-BE" sz="1000"/>
              <a:t>The inefficiencies were visible from both sides.</a:t>
            </a:r>
          </a:p>
          <a:p>
            <a:endParaRPr lang="en-BE" sz="1000"/>
          </a:p>
          <a:p>
            <a:endParaRPr lang="en-BE" sz="1000"/>
          </a:p>
          <a:p>
            <a:endParaRPr lang="en-BE" sz="1000"/>
          </a:p>
          <a:p>
            <a:endParaRPr lang="en-BE" sz="1000"/>
          </a:p>
          <a:p>
            <a:endParaRPr lang="en-BE" sz="1000"/>
          </a:p>
          <a:p>
            <a:endParaRPr lang="en-BE" sz="1000"/>
          </a:p>
        </p:txBody>
      </p:sp>
      <p:sp>
        <p:nvSpPr>
          <p:cNvPr id="4" name="Rectangle 3">
            <a:extLst>
              <a:ext uri="{FF2B5EF4-FFF2-40B4-BE49-F238E27FC236}">
                <a16:creationId xmlns:a16="http://schemas.microsoft.com/office/drawing/2014/main" id="{8B9F65AC-864F-43B4-F4AF-19F8A50E3570}"/>
              </a:ext>
            </a:extLst>
          </p:cNvPr>
          <p:cNvSpPr/>
          <p:nvPr/>
        </p:nvSpPr>
        <p:spPr>
          <a:xfrm>
            <a:off x="1313854" y="3210560"/>
            <a:ext cx="2922866" cy="38100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Cynthia Hadinoto</a:t>
            </a:r>
          </a:p>
          <a:p>
            <a:r>
              <a:rPr lang="en-BE" sz="1000" b="1"/>
              <a:t>Fixed-income quant turned fresh produce infrastructure builder</a:t>
            </a:r>
            <a:endParaRPr lang="en-BE" sz="1000"/>
          </a:p>
          <a:p>
            <a:r>
              <a:rPr lang="en-BE" sz="1000"/>
              <a:t>Built pricing and trading infrastructure at Cargill, J.P. Morgan and KBC Asset Management. Later applied machine learning, operations research and supply chain analytics across the Belgian food industry, including projects with Colruyt, Solucious and Coöperatie Hoogstraten.</a:t>
            </a:r>
          </a:p>
          <a:p>
            <a:r>
              <a:rPr lang="en-BE" sz="1000"/>
              <a:t>CARAVAN sits at the intersection of those two worlds: market structure and fresh produce operations.</a:t>
            </a:r>
          </a:p>
          <a:p>
            <a:endParaRPr lang="en-BE" sz="1000"/>
          </a:p>
          <a:p>
            <a:endParaRPr lang="en-BE" sz="1000"/>
          </a:p>
          <a:p>
            <a:endParaRPr lang="en-BE" sz="1000"/>
          </a:p>
          <a:p>
            <a:endParaRPr lang="en-BE" sz="1000"/>
          </a:p>
          <a:p>
            <a:endParaRPr lang="en-BE" sz="1000"/>
          </a:p>
          <a:p>
            <a:endParaRPr lang="en-BE" sz="1000"/>
          </a:p>
        </p:txBody>
      </p:sp>
      <p:sp>
        <p:nvSpPr>
          <p:cNvPr id="5" name="Rectangle 4">
            <a:extLst>
              <a:ext uri="{FF2B5EF4-FFF2-40B4-BE49-F238E27FC236}">
                <a16:creationId xmlns:a16="http://schemas.microsoft.com/office/drawing/2014/main" id="{2BF39DAC-F698-5559-2B17-315C9FF93F06}"/>
              </a:ext>
            </a:extLst>
          </p:cNvPr>
          <p:cNvSpPr/>
          <p:nvPr/>
        </p:nvSpPr>
        <p:spPr>
          <a:xfrm>
            <a:off x="5103534" y="3210560"/>
            <a:ext cx="2922866" cy="38100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Gitte Van Hasselt</a:t>
            </a:r>
          </a:p>
          <a:p>
            <a:r>
              <a:rPr lang="en-BE" sz="1000" b="1"/>
              <a:t>Co-founder · Commercial &amp; GTM</a:t>
            </a:r>
            <a:endParaRPr lang="en-BE" sz="1000"/>
          </a:p>
          <a:p>
            <a:r>
              <a:rPr lang="en-BE" sz="1000"/>
              <a:t>17+ years building ventures and innovation platforms inside and alongside industry leaders. Most recently Executive Director at EY Studio+, leading venture-building and innovation programmes for clients including Vandemoortele, Greenyard and Ardo. Previous roles include AB InBev Global Innovation, VRT Start-up and Philips.</a:t>
            </a:r>
          </a:p>
          <a:p>
            <a:r>
              <a:rPr lang="en-BE" sz="1000"/>
              <a:t>Originally from Hoogstraten, with deep roots in the Belgian fresh produce ecosystem and direct access to the growers, cooperatives and buyers CARAVAN is designed for.</a:t>
            </a:r>
          </a:p>
          <a:p>
            <a:endParaRPr lang="en-BE" sz="1000"/>
          </a:p>
          <a:p>
            <a:endParaRPr lang="en-BE" sz="1000"/>
          </a:p>
          <a:p>
            <a:endParaRPr lang="en-BE" sz="1000"/>
          </a:p>
          <a:p>
            <a:endParaRPr lang="en-BE" sz="1000"/>
          </a:p>
          <a:p>
            <a:endParaRPr lang="en-BE" sz="1000"/>
          </a:p>
          <a:p>
            <a:endParaRPr lang="en-BE" sz="1000"/>
          </a:p>
        </p:txBody>
      </p:sp>
    </p:spTree>
    <p:extLst>
      <p:ext uri="{BB962C8B-B14F-4D97-AF65-F5344CB8AC3E}">
        <p14:creationId xmlns:p14="http://schemas.microsoft.com/office/powerpoint/2010/main" val="768143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33E29-9AAC-E081-B9E8-BD1AE518E6A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D75FE13-E174-1A38-9FD7-E5509FC0DFD7}"/>
              </a:ext>
            </a:extLst>
          </p:cNvPr>
          <p:cNvPicPr>
            <a:picLocks noChangeAspect="1"/>
          </p:cNvPicPr>
          <p:nvPr/>
        </p:nvPicPr>
        <p:blipFill>
          <a:blip r:embed="rId2"/>
          <a:stretch>
            <a:fillRect/>
          </a:stretch>
        </p:blipFill>
        <p:spPr>
          <a:xfrm>
            <a:off x="646814" y="1561942"/>
            <a:ext cx="7772400" cy="4074358"/>
          </a:xfrm>
          <a:prstGeom prst="rect">
            <a:avLst/>
          </a:prstGeom>
        </p:spPr>
      </p:pic>
      <p:sp>
        <p:nvSpPr>
          <p:cNvPr id="4" name="Rectangle 3">
            <a:extLst>
              <a:ext uri="{FF2B5EF4-FFF2-40B4-BE49-F238E27FC236}">
                <a16:creationId xmlns:a16="http://schemas.microsoft.com/office/drawing/2014/main" id="{19FFE778-B017-BD95-1135-45C6777E663C}"/>
              </a:ext>
            </a:extLst>
          </p:cNvPr>
          <p:cNvSpPr/>
          <p:nvPr/>
        </p:nvSpPr>
        <p:spPr>
          <a:xfrm>
            <a:off x="7978814" y="1826299"/>
            <a:ext cx="2922866" cy="38100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Early conversations welcome</a:t>
            </a:r>
            <a:br>
              <a:rPr lang="en-BE" sz="1000"/>
            </a:br>
            <a:r>
              <a:rPr lang="en-BE" sz="1000"/>
              <a:t>We’re actively speaking with cooperatives, growers, exporters and buyers across Belgium.</a:t>
            </a:r>
            <a:br>
              <a:rPr lang="en-BE" sz="1000"/>
            </a:br>
            <a:r>
              <a:rPr lang="en-BE" sz="1000"/>
              <a:t>If you trade fresh produce on either side of the market, we want to understand how you operate today, where friction still exists, and what better trading infrastructure would be worth to your business.</a:t>
            </a:r>
          </a:p>
          <a:p>
            <a:endParaRPr lang="en-BE" sz="1000"/>
          </a:p>
          <a:p>
            <a:endParaRPr lang="en-BE" sz="1000"/>
          </a:p>
          <a:p>
            <a:endParaRPr lang="en-BE" sz="1000"/>
          </a:p>
          <a:p>
            <a:endParaRPr lang="en-BE" sz="1000"/>
          </a:p>
          <a:p>
            <a:endParaRPr lang="en-BE" sz="1000"/>
          </a:p>
          <a:p>
            <a:endParaRPr lang="en-BE" sz="1000"/>
          </a:p>
        </p:txBody>
      </p:sp>
    </p:spTree>
    <p:extLst>
      <p:ext uri="{BB962C8B-B14F-4D97-AF65-F5344CB8AC3E}">
        <p14:creationId xmlns:p14="http://schemas.microsoft.com/office/powerpoint/2010/main" val="30725235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721CDAA3D8E5F49A9B3FD0A81C4D891" ma:contentTypeVersion="11" ma:contentTypeDescription="Create a new document." ma:contentTypeScope="" ma:versionID="1f71b09049c69d2020ee427268cff51b">
  <xsd:schema xmlns:xsd="http://www.w3.org/2001/XMLSchema" xmlns:xs="http://www.w3.org/2001/XMLSchema" xmlns:p="http://schemas.microsoft.com/office/2006/metadata/properties" xmlns:ns2="1c08dd0f-7be8-414d-9455-c9212aee7f2a" xmlns:ns3="3395543b-34cf-46fa-96ce-a7808a66531e" targetNamespace="http://schemas.microsoft.com/office/2006/metadata/properties" ma:root="true" ma:fieldsID="2f815798674b512a12922f252e2e6170" ns2:_="" ns3:_="">
    <xsd:import namespace="1c08dd0f-7be8-414d-9455-c9212aee7f2a"/>
    <xsd:import namespace="3395543b-34cf-46fa-96ce-a7808a66531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Locatio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08dd0f-7be8-414d-9455-c9212aee7f2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534d8ea-235c-4e86-bb55-6a2685936bcf" ma:termSetId="09814cd3-568e-fe90-9814-8d621ff8fb84" ma:anchorId="fba54fb3-c3e1-fe81-a776-ca4b69148c4d" ma:open="true" ma:isKeyword="false">
      <xsd:complexType>
        <xsd:sequence>
          <xsd:element ref="pc:Terms" minOccurs="0" maxOccurs="1"/>
        </xsd:sequence>
      </xsd:complexType>
    </xsd:element>
    <xsd:element name="MediaServiceLocation" ma:index="15" nillable="true" ma:displayName="Location" ma:indexed="true" ma:internalName="MediaServiceLocatio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395543b-34cf-46fa-96ce-a7808a66531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d102d49-7ebc-4fb4-bd6f-2d601d13df3f}" ma:internalName="TaxCatchAll" ma:showField="CatchAllData" ma:web="3395543b-34cf-46fa-96ce-a7808a6653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3395543b-34cf-46fa-96ce-a7808a66531e" xsi:nil="true"/>
    <lcf76f155ced4ddcb4097134ff3c332f xmlns="1c08dd0f-7be8-414d-9455-c9212aee7f2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4368DBB-23D8-473D-9ACD-42EA22B6DFB0}"/>
</file>

<file path=customXml/itemProps2.xml><?xml version="1.0" encoding="utf-8"?>
<ds:datastoreItem xmlns:ds="http://schemas.openxmlformats.org/officeDocument/2006/customXml" ds:itemID="{882FA656-E529-432A-9F8B-191849DD09EB}"/>
</file>

<file path=customXml/itemProps3.xml><?xml version="1.0" encoding="utf-8"?>
<ds:datastoreItem xmlns:ds="http://schemas.openxmlformats.org/officeDocument/2006/customXml" ds:itemID="{EED4205A-DA4C-419C-AD9F-A79DD7685F87}"/>
</file>

<file path=docProps/app.xml><?xml version="1.0" encoding="utf-8"?>
<Properties xmlns="http://schemas.openxmlformats.org/officeDocument/2006/extended-properties" xmlns:vt="http://schemas.openxmlformats.org/officeDocument/2006/docPropsVTypes">
  <TotalTime>685</TotalTime>
  <Words>1027</Words>
  <Application>Microsoft Macintosh PowerPoint</Application>
  <PresentationFormat>Widescreen</PresentationFormat>
  <Paragraphs>82</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Gitte Van Hasselt</dc:creator>
  <cp:lastModifiedBy>Gitte Van Hasselt</cp:lastModifiedBy>
  <cp:revision>1</cp:revision>
  <dcterms:created xsi:type="dcterms:W3CDTF">2026-05-19T19:45:38Z</dcterms:created>
  <dcterms:modified xsi:type="dcterms:W3CDTF">2026-05-20T07:11:09Z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0x0101002721CDAA3D8E5F49A9B3FD0A81C4D891</vt:lpwstr>
  </property>
</Properties>
</file>